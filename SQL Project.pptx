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top</a:t>
            </a:r>
            <a:r>
              <a:rPr lang="en-IN" baseline="0"/>
              <a:t> 10 delay routes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'top 10 delay routes'!$A$2:$A$11</c:f>
              <c:strCache>
                <c:ptCount val="10"/>
                <c:pt idx="0">
                  <c:v>R015</c:v>
                </c:pt>
                <c:pt idx="1">
                  <c:v>R019</c:v>
                </c:pt>
                <c:pt idx="2">
                  <c:v>R017</c:v>
                </c:pt>
                <c:pt idx="3">
                  <c:v>R005</c:v>
                </c:pt>
                <c:pt idx="4">
                  <c:v>R016</c:v>
                </c:pt>
                <c:pt idx="5">
                  <c:v>R001</c:v>
                </c:pt>
                <c:pt idx="6">
                  <c:v>R012</c:v>
                </c:pt>
                <c:pt idx="7">
                  <c:v>R004</c:v>
                </c:pt>
                <c:pt idx="8">
                  <c:v>R014</c:v>
                </c:pt>
                <c:pt idx="9">
                  <c:v>R002</c:v>
                </c:pt>
              </c:strCache>
            </c:strRef>
          </c:cat>
          <c:val>
            <c:numRef>
              <c:f>'top 10 delay routes'!$B$2:$B$11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1.75</c:v>
                </c:pt>
                <c:pt idx="3">
                  <c:v>1.71</c:v>
                </c:pt>
                <c:pt idx="4">
                  <c:v>1.67</c:v>
                </c:pt>
                <c:pt idx="5">
                  <c:v>1.67</c:v>
                </c:pt>
                <c:pt idx="6">
                  <c:v>1.63</c:v>
                </c:pt>
                <c:pt idx="7">
                  <c:v>1.6</c:v>
                </c:pt>
                <c:pt idx="8">
                  <c:v>1.6</c:v>
                </c:pt>
                <c:pt idx="9">
                  <c:v>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9-475C-B71C-086623A7D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461568111"/>
        <c:axId val="1461566671"/>
      </c:barChart>
      <c:catAx>
        <c:axId val="1461568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1566671"/>
        <c:crosses val="autoZero"/>
        <c:auto val="1"/>
        <c:lblAlgn val="ctr"/>
        <c:lblOffset val="100"/>
        <c:noMultiLvlLbl val="0"/>
      </c:catAx>
      <c:valAx>
        <c:axId val="1461566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156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total</a:t>
            </a:r>
            <a:r>
              <a:rPr lang="en-IN" baseline="0"/>
              <a:t> vs delay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'total vs delay'!$B$1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'total vs delay'!$A$2:$A$11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'total vs delay'!$B$2:$B$11</c:f>
              <c:numCache>
                <c:formatCode>General</c:formatCode>
                <c:ptCount val="10"/>
                <c:pt idx="0">
                  <c:v>34</c:v>
                </c:pt>
                <c:pt idx="1">
                  <c:v>28</c:v>
                </c:pt>
                <c:pt idx="2">
                  <c:v>23</c:v>
                </c:pt>
                <c:pt idx="3">
                  <c:v>31</c:v>
                </c:pt>
                <c:pt idx="4">
                  <c:v>25</c:v>
                </c:pt>
                <c:pt idx="5">
                  <c:v>37</c:v>
                </c:pt>
                <c:pt idx="6">
                  <c:v>38</c:v>
                </c:pt>
                <c:pt idx="7">
                  <c:v>21</c:v>
                </c:pt>
                <c:pt idx="8">
                  <c:v>33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4-4877-95FA-375D1CC44E36}"/>
            </c:ext>
          </c:extLst>
        </c:ser>
        <c:ser>
          <c:idx val="1"/>
          <c:order val="1"/>
          <c:tx>
            <c:strRef>
              <c:f>'total vs delay'!$C$1</c:f>
              <c:strCache>
                <c:ptCount val="1"/>
                <c:pt idx="0">
                  <c:v>delayed_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8000"/>
                    <a:satMod val="110000"/>
                    <a:lumMod val="104000"/>
                  </a:schemeClr>
                </a:gs>
                <a:gs pos="69000">
                  <a:schemeClr val="accent3">
                    <a:shade val="88000"/>
                    <a:satMod val="130000"/>
                    <a:lumMod val="92000"/>
                  </a:schemeClr>
                </a:gs>
                <a:gs pos="100000">
                  <a:schemeClr val="accent3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'total vs delay'!$A$2:$A$11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'total vs delay'!$C$2:$C$11</c:f>
              <c:numCache>
                <c:formatCode>General</c:formatCode>
                <c:ptCount val="10"/>
                <c:pt idx="0">
                  <c:v>18</c:v>
                </c:pt>
                <c:pt idx="1">
                  <c:v>10</c:v>
                </c:pt>
                <c:pt idx="2">
                  <c:v>13</c:v>
                </c:pt>
                <c:pt idx="3">
                  <c:v>12</c:v>
                </c:pt>
                <c:pt idx="4">
                  <c:v>14</c:v>
                </c:pt>
                <c:pt idx="5">
                  <c:v>12</c:v>
                </c:pt>
                <c:pt idx="6">
                  <c:v>15</c:v>
                </c:pt>
                <c:pt idx="7">
                  <c:v>5</c:v>
                </c:pt>
                <c:pt idx="8">
                  <c:v>13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C4-4877-95FA-375D1CC44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830116720"/>
        <c:axId val="830097040"/>
      </c:barChart>
      <c:catAx>
        <c:axId val="8301167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097040"/>
        <c:crosses val="autoZero"/>
        <c:auto val="1"/>
        <c:lblAlgn val="ctr"/>
        <c:lblOffset val="100"/>
        <c:noMultiLvlLbl val="0"/>
      </c:catAx>
      <c:valAx>
        <c:axId val="830097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011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dirty="0"/>
              <a:t>Delay</a:t>
            </a:r>
            <a:r>
              <a:rPr lang="en-IN" baseline="0" dirty="0"/>
              <a:t> Reason Frequency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'delay reason'!$A$2:$A$4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'delay reason'!$B$2:$B$4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31-40BD-B888-87C6ABBB2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553501648"/>
        <c:axId val="553521328"/>
      </c:barChart>
      <c:catAx>
        <c:axId val="553501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3521328"/>
        <c:crosses val="autoZero"/>
        <c:auto val="1"/>
        <c:lblAlgn val="ctr"/>
        <c:lblOffset val="100"/>
        <c:noMultiLvlLbl val="0"/>
      </c:catAx>
      <c:valAx>
        <c:axId val="553521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3501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33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7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38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34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36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06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2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52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2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59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83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27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zjG1qR9W0P1PnoYyEROquT7EyzRKqiR4/view?usp=sharin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bstract smoke background">
            <a:extLst>
              <a:ext uri="{FF2B5EF4-FFF2-40B4-BE49-F238E27FC236}">
                <a16:creationId xmlns:a16="http://schemas.microsoft.com/office/drawing/2014/main" id="{5E5E70EC-A96A-AE93-84B5-44979E0763C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6491" r="-1" b="8920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63" name="Title 62">
            <a:extLst>
              <a:ext uri="{FF2B5EF4-FFF2-40B4-BE49-F238E27FC236}">
                <a16:creationId xmlns:a16="http://schemas.microsoft.com/office/drawing/2014/main" id="{23E3B254-B90B-3079-6AA9-47CC6755F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0" rtlCol="0" anchor="b">
            <a:normAutofit/>
          </a:bodyPr>
          <a:lstStyle/>
          <a:p>
            <a:r>
              <a:rPr lang="en-US" sz="6600" dirty="0"/>
              <a:t>SQL Project</a:t>
            </a:r>
          </a:p>
        </p:txBody>
      </p:sp>
      <p:sp>
        <p:nvSpPr>
          <p:cNvPr id="64" name="Subtitle 63">
            <a:extLst>
              <a:ext uri="{FF2B5EF4-FFF2-40B4-BE49-F238E27FC236}">
                <a16:creationId xmlns:a16="http://schemas.microsoft.com/office/drawing/2014/main" id="{58E96112-1823-B835-B5B8-10E363BF9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cap="all" dirty="0"/>
              <a:t>Video </a:t>
            </a:r>
            <a:r>
              <a:rPr lang="en-US" sz="1800" cap="all" dirty="0" err="1"/>
              <a:t>link</a:t>
            </a:r>
            <a:r>
              <a:rPr lang="en-US" sz="1800" cap="all" dirty="0" err="1">
                <a:latin typeface="Abadi" panose="020B0604020104020204" pitchFamily="34" charset="0"/>
              </a:rPr>
              <a:t>:</a:t>
            </a:r>
            <a:r>
              <a:rPr lang="en-US" sz="1800" cap="all" dirty="0" err="1">
                <a:latin typeface="Abadi" panose="020B0604020104020204" pitchFamily="34" charset="0"/>
                <a:hlinkClick r:id="rId3"/>
              </a:rPr>
              <a:t>https</a:t>
            </a:r>
            <a:r>
              <a:rPr lang="en-US" sz="1800" cap="all" dirty="0">
                <a:latin typeface="Abadi" panose="020B0604020104020204" pitchFamily="34" charset="0"/>
                <a:hlinkClick r:id="rId3"/>
              </a:rPr>
              <a:t>://drive.google.com/file/d/1zjG1qR9W0P1PnoYyEROquT7EyzRKqiR4/</a:t>
            </a:r>
            <a:r>
              <a:rPr lang="en-US" sz="1800" cap="all" dirty="0" err="1">
                <a:latin typeface="Abadi" panose="020B0604020104020204" pitchFamily="34" charset="0"/>
                <a:hlinkClick r:id="rId3"/>
              </a:rPr>
              <a:t>view?usp</a:t>
            </a:r>
            <a:r>
              <a:rPr lang="en-US" sz="1800" cap="all" dirty="0">
                <a:latin typeface="Abadi" panose="020B0604020104020204" pitchFamily="34" charset="0"/>
                <a:hlinkClick r:id="rId3"/>
              </a:rPr>
              <a:t>=sharing</a:t>
            </a:r>
            <a:endParaRPr lang="en-US" sz="1800" cap="all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5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F7C7-8D35-2D57-49CA-9AC2D8EA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84" y="762733"/>
            <a:ext cx="10515600" cy="935678"/>
          </a:xfrm>
        </p:spPr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1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C586CD-B037-7E29-606E-10561F72D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9" t="38620" r="50000" b="51563"/>
          <a:stretch>
            <a:fillRect/>
          </a:stretch>
        </p:blipFill>
        <p:spPr>
          <a:xfrm>
            <a:off x="538397" y="2361498"/>
            <a:ext cx="5310610" cy="1067502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498845-B00F-01C4-D5F5-EB363BDC6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76" t="39134" r="55121" b="52904"/>
          <a:stretch>
            <a:fillRect/>
          </a:stretch>
        </p:blipFill>
        <p:spPr>
          <a:xfrm>
            <a:off x="538394" y="3625110"/>
            <a:ext cx="5310611" cy="935678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105851-9AC8-E30C-F6AD-67AD876BF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8" t="38155" r="53060" b="52185"/>
          <a:stretch>
            <a:fillRect/>
          </a:stretch>
        </p:blipFill>
        <p:spPr>
          <a:xfrm>
            <a:off x="538394" y="4692612"/>
            <a:ext cx="5310611" cy="935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D35A6B-5981-510C-4F76-E0890D0AA72A}"/>
              </a:ext>
            </a:extLst>
          </p:cNvPr>
          <p:cNvSpPr txBox="1"/>
          <p:nvPr/>
        </p:nvSpPr>
        <p:spPr>
          <a:xfrm>
            <a:off x="538394" y="1894521"/>
            <a:ext cx="4792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Converting all date column into Date format</a:t>
            </a:r>
            <a:endParaRPr lang="en-IN" b="1" dirty="0">
              <a:latin typeface="Abadi" panose="020F0502020204030204" pitchFamily="34" charset="0"/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6C3CEA-86A3-DEFA-3E66-89CFF3F7B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9" t="48275" r="55258" b="43445"/>
          <a:stretch>
            <a:fillRect/>
          </a:stretch>
        </p:blipFill>
        <p:spPr>
          <a:xfrm>
            <a:off x="538395" y="5768195"/>
            <a:ext cx="5310610" cy="935678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A80ACA-C090-DB63-A0AA-23F2E14AC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7" t="57704" r="56442" b="31716"/>
          <a:stretch>
            <a:fillRect/>
          </a:stretch>
        </p:blipFill>
        <p:spPr>
          <a:xfrm>
            <a:off x="7457089" y="2361498"/>
            <a:ext cx="4364680" cy="10745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223E508-45E2-B520-DC0A-59BE90798B82}"/>
              </a:ext>
            </a:extLst>
          </p:cNvPr>
          <p:cNvSpPr txBox="1"/>
          <p:nvPr/>
        </p:nvSpPr>
        <p:spPr>
          <a:xfrm>
            <a:off x="7457089" y="1894521"/>
            <a:ext cx="4639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Converting  time column into Time format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15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53B3-B1C4-2324-F488-25DBB77B2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2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DA29B2-1A25-C0EB-E03F-C5E5767F6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7" t="20324" r="52561" b="56568"/>
          <a:stretch>
            <a:fillRect/>
          </a:stretch>
        </p:blipFill>
        <p:spPr>
          <a:xfrm>
            <a:off x="404734" y="2727010"/>
            <a:ext cx="5247863" cy="249911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831BC7-2025-DB99-84AF-DA2EBC021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60124" r="72828" b="11709"/>
          <a:stretch>
            <a:fillRect/>
          </a:stretch>
        </p:blipFill>
        <p:spPr>
          <a:xfrm>
            <a:off x="7563022" y="2727010"/>
            <a:ext cx="2368445" cy="3082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7A7118-1456-FF32-3997-8F6646A08E15}"/>
              </a:ext>
            </a:extLst>
          </p:cNvPr>
          <p:cNvSpPr txBox="1"/>
          <p:nvPr/>
        </p:nvSpPr>
        <p:spPr>
          <a:xfrm>
            <a:off x="293355" y="2250852"/>
            <a:ext cx="5517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Calculate delivery delay (in days) for each order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66979-A63C-71E8-9EA1-0EFC8E00BAE1}"/>
              </a:ext>
            </a:extLst>
          </p:cNvPr>
          <p:cNvSpPr txBox="1"/>
          <p:nvPr/>
        </p:nvSpPr>
        <p:spPr>
          <a:xfrm>
            <a:off x="7721290" y="2304817"/>
            <a:ext cx="979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5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5FF5-A5FF-9927-B27F-FAB10C48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2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009E81-3C6B-4721-6664-FC9DD2BBF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5" t="20140" r="55332" b="46833"/>
          <a:stretch>
            <a:fillRect/>
          </a:stretch>
        </p:blipFill>
        <p:spPr>
          <a:xfrm>
            <a:off x="34851" y="2863627"/>
            <a:ext cx="4834408" cy="349536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017818-6807-F2F0-765D-CBF74D3F4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7" t="57638" r="71452" b="11713"/>
          <a:stretch>
            <a:fillRect/>
          </a:stretch>
        </p:blipFill>
        <p:spPr>
          <a:xfrm>
            <a:off x="9576182" y="2863627"/>
            <a:ext cx="2580967" cy="3501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EC2118-ABB1-B27D-B5E7-E21B62B02134}"/>
              </a:ext>
            </a:extLst>
          </p:cNvPr>
          <p:cNvSpPr txBox="1"/>
          <p:nvPr/>
        </p:nvSpPr>
        <p:spPr>
          <a:xfrm>
            <a:off x="813442" y="2500449"/>
            <a:ext cx="5809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Top 10 delayed routes based on average delay days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21C6D-D277-A3A1-1AEA-6081252F0711}"/>
              </a:ext>
            </a:extLst>
          </p:cNvPr>
          <p:cNvSpPr txBox="1"/>
          <p:nvPr/>
        </p:nvSpPr>
        <p:spPr>
          <a:xfrm>
            <a:off x="9576182" y="2500449"/>
            <a:ext cx="1253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4A83D0D-BC02-340B-333C-2945977AE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5983825"/>
              </p:ext>
            </p:extLst>
          </p:nvPr>
        </p:nvGraphicFramePr>
        <p:xfrm>
          <a:off x="4936720" y="2857473"/>
          <a:ext cx="4572000" cy="35015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8634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E329B-D693-3CEF-1B7B-05D6B4B7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2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58E034-8F23-37CC-CB4B-7102E27A4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6" t="32382" r="14903" b="56389"/>
          <a:stretch>
            <a:fillRect/>
          </a:stretch>
        </p:blipFill>
        <p:spPr>
          <a:xfrm>
            <a:off x="0" y="2738721"/>
            <a:ext cx="8894261" cy="116272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A910D2-2DBE-EEC9-1EF1-5157E8580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0" t="55558" r="67375" b="6201"/>
          <a:stretch>
            <a:fillRect/>
          </a:stretch>
        </p:blipFill>
        <p:spPr>
          <a:xfrm>
            <a:off x="9098280" y="2764720"/>
            <a:ext cx="3093720" cy="3990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14CB86-83EF-B9A3-CF45-395924B225C4}"/>
              </a:ext>
            </a:extLst>
          </p:cNvPr>
          <p:cNvSpPr txBox="1"/>
          <p:nvPr/>
        </p:nvSpPr>
        <p:spPr>
          <a:xfrm>
            <a:off x="0" y="2369389"/>
            <a:ext cx="7802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Use window functions to rank all orders by delay within each warehouse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48B0D-81B2-4796-5B5C-CD5BA1D8CAF6}"/>
              </a:ext>
            </a:extLst>
          </p:cNvPr>
          <p:cNvSpPr txBox="1"/>
          <p:nvPr/>
        </p:nvSpPr>
        <p:spPr>
          <a:xfrm>
            <a:off x="9555480" y="2369389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74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DE2E-44A6-71C0-461C-E077B42A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3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CEF73C-83FD-C50B-1BF8-DC0DEC0B4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6" t="20588" r="47064" b="56785"/>
          <a:stretch>
            <a:fillRect/>
          </a:stretch>
        </p:blipFill>
        <p:spPr>
          <a:xfrm>
            <a:off x="733963" y="2590800"/>
            <a:ext cx="5519253" cy="2103119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3E651-848A-6897-4EF2-EFC5F09E9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0" t="61561" r="69625" b="7757"/>
          <a:stretch>
            <a:fillRect/>
          </a:stretch>
        </p:blipFill>
        <p:spPr>
          <a:xfrm>
            <a:off x="8464054" y="2590800"/>
            <a:ext cx="2590800" cy="30558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D4038C-5562-6C72-213E-4FC0731AC179}"/>
              </a:ext>
            </a:extLst>
          </p:cNvPr>
          <p:cNvSpPr txBox="1"/>
          <p:nvPr/>
        </p:nvSpPr>
        <p:spPr>
          <a:xfrm>
            <a:off x="1112520" y="2194560"/>
            <a:ext cx="341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Average delivery time (in days)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9960F-5FAD-6DB7-CE7C-F74A7358E01E}"/>
              </a:ext>
            </a:extLst>
          </p:cNvPr>
          <p:cNvSpPr txBox="1"/>
          <p:nvPr/>
        </p:nvSpPr>
        <p:spPr>
          <a:xfrm>
            <a:off x="8625840" y="219456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4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3391-C3E5-49C7-CDC3-4242E706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3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67BF9F-CE70-7C83-0013-864E5A06A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6" t="24087" r="55825" b="62275"/>
          <a:stretch>
            <a:fillRect/>
          </a:stretch>
        </p:blipFill>
        <p:spPr>
          <a:xfrm>
            <a:off x="1118585" y="2685963"/>
            <a:ext cx="4869261" cy="1486074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ADAD7C-F392-0C77-5306-74D5429AB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64523" r="70484" b="6215"/>
          <a:stretch>
            <a:fillRect/>
          </a:stretch>
        </p:blipFill>
        <p:spPr>
          <a:xfrm>
            <a:off x="7624916" y="2685963"/>
            <a:ext cx="2669457" cy="3184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835A30-3599-7670-8AF1-A864CC78D91F}"/>
              </a:ext>
            </a:extLst>
          </p:cNvPr>
          <p:cNvSpPr txBox="1"/>
          <p:nvPr/>
        </p:nvSpPr>
        <p:spPr>
          <a:xfrm>
            <a:off x="1451579" y="2286000"/>
            <a:ext cx="231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Average traffic delay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CEF54-607C-3812-A4AA-68BE72CBB0BD}"/>
              </a:ext>
            </a:extLst>
          </p:cNvPr>
          <p:cNvSpPr txBox="1"/>
          <p:nvPr/>
        </p:nvSpPr>
        <p:spPr>
          <a:xfrm>
            <a:off x="7860890" y="228600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5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006C-D091-3AE2-CFD8-735B5B61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3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B1F531-16B5-F880-7D1D-FD3CF7D63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33273" r="49675" b="49788"/>
          <a:stretch>
            <a:fillRect/>
          </a:stretch>
        </p:blipFill>
        <p:spPr>
          <a:xfrm>
            <a:off x="1451579" y="2954223"/>
            <a:ext cx="5155975" cy="154403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C67CD5-EE6C-D0E5-A470-A1D36E9C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61511" r="71935" b="9873"/>
          <a:stretch>
            <a:fillRect/>
          </a:stretch>
        </p:blipFill>
        <p:spPr>
          <a:xfrm>
            <a:off x="8507434" y="2948630"/>
            <a:ext cx="2376876" cy="3099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4E24F3-0C7E-D852-15B3-E33807B2C0DC}"/>
              </a:ext>
            </a:extLst>
          </p:cNvPr>
          <p:cNvSpPr txBox="1"/>
          <p:nvPr/>
        </p:nvSpPr>
        <p:spPr>
          <a:xfrm>
            <a:off x="301204" y="2579298"/>
            <a:ext cx="788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Distance-to-time efficiency ratio: </a:t>
            </a:r>
            <a:r>
              <a:rPr lang="en-US" b="1" dirty="0" err="1">
                <a:latin typeface="Abadi" panose="020F0502020204030204" pitchFamily="34" charset="0"/>
              </a:rPr>
              <a:t>Distance_KM</a:t>
            </a:r>
            <a:r>
              <a:rPr lang="en-US" b="1" dirty="0">
                <a:latin typeface="Abadi" panose="020F0502020204030204" pitchFamily="34" charset="0"/>
              </a:rPr>
              <a:t> / </a:t>
            </a:r>
            <a:r>
              <a:rPr lang="en-US" b="1" dirty="0" err="1">
                <a:latin typeface="Abadi" panose="020F0502020204030204" pitchFamily="34" charset="0"/>
              </a:rPr>
              <a:t>Average_Travel_Time_Min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E137B-2200-FC44-AB70-660878E46CA3}"/>
              </a:ext>
            </a:extLst>
          </p:cNvPr>
          <p:cNvSpPr txBox="1"/>
          <p:nvPr/>
        </p:nvSpPr>
        <p:spPr>
          <a:xfrm>
            <a:off x="8449777" y="257929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95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C7E4-704E-D552-7D01-67AE38D2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3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378100-BC64-C0A6-5705-2AAA2AEE4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0" t="27793" r="48576" b="49002"/>
          <a:stretch>
            <a:fillRect/>
          </a:stretch>
        </p:blipFill>
        <p:spPr>
          <a:xfrm>
            <a:off x="1451579" y="2730039"/>
            <a:ext cx="4601756" cy="196891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55B5F3-CD00-1233-40DF-5CC4F7F2A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60244" r="71814" b="24289"/>
          <a:stretch>
            <a:fillRect/>
          </a:stretch>
        </p:blipFill>
        <p:spPr>
          <a:xfrm>
            <a:off x="8690378" y="2730039"/>
            <a:ext cx="2364476" cy="1650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2E1A51-9F76-D49D-904D-D0B8F94E3F57}"/>
              </a:ext>
            </a:extLst>
          </p:cNvPr>
          <p:cNvSpPr txBox="1"/>
          <p:nvPr/>
        </p:nvSpPr>
        <p:spPr>
          <a:xfrm>
            <a:off x="1333592" y="2360707"/>
            <a:ext cx="5051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Identify 3 routes with the worst efficiency ratio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71FAAB-A1F4-93BA-D338-536D65A40317}"/>
              </a:ext>
            </a:extLst>
          </p:cNvPr>
          <p:cNvSpPr txBox="1"/>
          <p:nvPr/>
        </p:nvSpPr>
        <p:spPr>
          <a:xfrm>
            <a:off x="8690378" y="236167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8C1C9-68D2-CF75-E0B1-CDB4EC0C404E}"/>
              </a:ext>
            </a:extLst>
          </p:cNvPr>
          <p:cNvSpPr txBox="1"/>
          <p:nvPr/>
        </p:nvSpPr>
        <p:spPr>
          <a:xfrm>
            <a:off x="2584546" y="5252068"/>
            <a:ext cx="8152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badi" panose="020B0604020104020204" pitchFamily="34" charset="0"/>
              </a:rPr>
              <a:t>:-These are the worst routes so company should optimize these routes.</a:t>
            </a:r>
            <a:endParaRPr lang="en-IN" b="1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1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0D57-F81D-9569-9931-3DE827B3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3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A170C1-5FE9-0E88-4572-995AC460F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5" t="35601" r="20934" b="46456"/>
          <a:stretch>
            <a:fillRect/>
          </a:stretch>
        </p:blipFill>
        <p:spPr>
          <a:xfrm>
            <a:off x="245806" y="2674732"/>
            <a:ext cx="7091471" cy="150853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6640B2-8338-4165-0125-17B97D701C39}"/>
              </a:ext>
            </a:extLst>
          </p:cNvPr>
          <p:cNvSpPr txBox="1"/>
          <p:nvPr/>
        </p:nvSpPr>
        <p:spPr>
          <a:xfrm>
            <a:off x="260554" y="2305400"/>
            <a:ext cx="4612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Find routes with &gt;20% delayed shipments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4EA46-3743-9957-7396-50A1381B749B}"/>
              </a:ext>
            </a:extLst>
          </p:cNvPr>
          <p:cNvSpPr txBox="1"/>
          <p:nvPr/>
        </p:nvSpPr>
        <p:spPr>
          <a:xfrm>
            <a:off x="9434876" y="230540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8B0256-5A5A-84BE-13D8-864827EE4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9" t="68826" r="63347" b="9166"/>
          <a:stretch>
            <a:fillRect/>
          </a:stretch>
        </p:blipFill>
        <p:spPr>
          <a:xfrm>
            <a:off x="8155859" y="2674732"/>
            <a:ext cx="3790336" cy="22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1BA0-BBCD-A30B-9593-6487DFB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B0604020104020204" pitchFamily="34" charset="0"/>
              </a:rPr>
              <a:t>Task 3</a:t>
            </a:r>
            <a:endParaRPr lang="en-IN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0C8E8-EA75-1ACF-F44E-8814A621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Recommendation:</a:t>
            </a:r>
          </a:p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- Routes with low efficiency ratio and high delay percentage need redesign.</a:t>
            </a:r>
          </a:p>
          <a:p>
            <a:pPr marL="0" indent="0">
              <a:buNone/>
            </a:pPr>
            <a:r>
              <a:rPr lang="en-US" b="1" dirty="0">
                <a:latin typeface="Abadi" panose="020B0604020104020204" pitchFamily="34" charset="0"/>
              </a:rPr>
              <a:t>- Need to relocate experienced agents to poor performing routes.</a:t>
            </a:r>
            <a:endParaRPr lang="en-IN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72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DEC1-709F-EDE7-DCE3-6D05E9F5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4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B68473-FA7D-6BCB-C6BD-2A8AE963A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1" t="20507" r="54212" b="62763"/>
          <a:stretch>
            <a:fillRect/>
          </a:stretch>
        </p:blipFill>
        <p:spPr>
          <a:xfrm>
            <a:off x="1451579" y="2781657"/>
            <a:ext cx="4018340" cy="1718187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214DE7-1650-177F-E39E-09274C80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7" t="61511" r="59355" b="24504"/>
          <a:stretch>
            <a:fillRect/>
          </a:stretch>
        </p:blipFill>
        <p:spPr>
          <a:xfrm>
            <a:off x="7238277" y="2781657"/>
            <a:ext cx="4418845" cy="15596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7C50D5-C58E-08B6-140C-C6B2E44B1095}"/>
              </a:ext>
            </a:extLst>
          </p:cNvPr>
          <p:cNvSpPr txBox="1"/>
          <p:nvPr/>
        </p:nvSpPr>
        <p:spPr>
          <a:xfrm>
            <a:off x="312893" y="2412325"/>
            <a:ext cx="640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Top 3 warehouses with the highest average processing time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316B8-3689-51A3-A320-22E6D501CEF2}"/>
              </a:ext>
            </a:extLst>
          </p:cNvPr>
          <p:cNvSpPr txBox="1"/>
          <p:nvPr/>
        </p:nvSpPr>
        <p:spPr>
          <a:xfrm>
            <a:off x="7860769" y="2412325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6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4E6E-E5EE-6991-079C-F7557DA8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4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3A92A8-080C-477A-7A64-6A48FF3FC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4" t="22541" r="54975" b="45551"/>
          <a:stretch>
            <a:fillRect/>
          </a:stretch>
        </p:blipFill>
        <p:spPr>
          <a:xfrm>
            <a:off x="0" y="2595716"/>
            <a:ext cx="4119673" cy="293493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225BC3-B489-0BDD-5AB3-6FE61BD3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6" t="60888" r="68791" b="8494"/>
          <a:stretch>
            <a:fillRect/>
          </a:stretch>
        </p:blipFill>
        <p:spPr>
          <a:xfrm>
            <a:off x="9084963" y="2595716"/>
            <a:ext cx="2829810" cy="3170903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A5A0D61-2FA6-4842-7B0D-8414AEFB89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2488346"/>
              </p:ext>
            </p:extLst>
          </p:nvPr>
        </p:nvGraphicFramePr>
        <p:xfrm>
          <a:off x="4119673" y="2595716"/>
          <a:ext cx="4965290" cy="3473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0528C7-4A65-76AA-1C17-2A27FCF7CB72}"/>
              </a:ext>
            </a:extLst>
          </p:cNvPr>
          <p:cNvSpPr txBox="1"/>
          <p:nvPr/>
        </p:nvSpPr>
        <p:spPr>
          <a:xfrm>
            <a:off x="0" y="2226384"/>
            <a:ext cx="515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Total vs. delayed shipments for each warehouse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27626-DA1F-4606-6DFC-787CB9A74B3C}"/>
              </a:ext>
            </a:extLst>
          </p:cNvPr>
          <p:cNvSpPr txBox="1"/>
          <p:nvPr/>
        </p:nvSpPr>
        <p:spPr>
          <a:xfrm>
            <a:off x="9084963" y="2262944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873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3364-A901-66A9-FF86-0F159F5D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4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0624C9-2FE9-4B74-B3C5-79867501A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0" t="24666" r="40271" b="46895"/>
          <a:stretch>
            <a:fillRect/>
          </a:stretch>
        </p:blipFill>
        <p:spPr>
          <a:xfrm>
            <a:off x="803553" y="2715190"/>
            <a:ext cx="5582498" cy="2289057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5B949-845E-E7D6-827F-6E8C23069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8" t="61081" r="52702" b="21707"/>
          <a:stretch>
            <a:fillRect/>
          </a:stretch>
        </p:blipFill>
        <p:spPr>
          <a:xfrm>
            <a:off x="6966770" y="2715190"/>
            <a:ext cx="4846688" cy="17535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C541E1-6C20-A846-0075-67637AA78C0D}"/>
              </a:ext>
            </a:extLst>
          </p:cNvPr>
          <p:cNvSpPr txBox="1"/>
          <p:nvPr/>
        </p:nvSpPr>
        <p:spPr>
          <a:xfrm>
            <a:off x="943897" y="2345858"/>
            <a:ext cx="3674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Processing time &gt; global average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F6609D-25F6-3342-5CE2-619F9C40020A}"/>
              </a:ext>
            </a:extLst>
          </p:cNvPr>
          <p:cNvSpPr txBox="1"/>
          <p:nvPr/>
        </p:nvSpPr>
        <p:spPr>
          <a:xfrm>
            <a:off x="7117439" y="234672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2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BFB3-EF0B-B4A9-96B0-027BB391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4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B93E15-88CB-BAFD-B8A7-6F5965294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75" t="32879" r="13605" b="43721"/>
          <a:stretch>
            <a:fillRect/>
          </a:stretch>
        </p:blipFill>
        <p:spPr>
          <a:xfrm>
            <a:off x="353962" y="2551188"/>
            <a:ext cx="7108723" cy="221384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178A6E-997D-CA35-4F04-46A3EED0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7" t="69491" r="59960" b="8582"/>
          <a:stretch>
            <a:fillRect/>
          </a:stretch>
        </p:blipFill>
        <p:spPr>
          <a:xfrm>
            <a:off x="8067368" y="2551188"/>
            <a:ext cx="3770669" cy="22138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2CA6A5-493A-3A8A-D64F-A6B4EA00CE7B}"/>
              </a:ext>
            </a:extLst>
          </p:cNvPr>
          <p:cNvSpPr txBox="1"/>
          <p:nvPr/>
        </p:nvSpPr>
        <p:spPr>
          <a:xfrm>
            <a:off x="353962" y="2181856"/>
            <a:ext cx="603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Rank warehouses based on on-time delivery percentage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E8662-A115-CC3D-D5C3-DD3741B5C7F3}"/>
              </a:ext>
            </a:extLst>
          </p:cNvPr>
          <p:cNvSpPr txBox="1"/>
          <p:nvPr/>
        </p:nvSpPr>
        <p:spPr>
          <a:xfrm>
            <a:off x="8067368" y="2188636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644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BF15-7453-45BF-4B81-D66B18CB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5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A4D0AE-FC1B-5F08-3BEB-E78ED653B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8" t="20370" r="40249" b="70963"/>
          <a:stretch>
            <a:fillRect/>
          </a:stretch>
        </p:blipFill>
        <p:spPr>
          <a:xfrm>
            <a:off x="468727" y="2711603"/>
            <a:ext cx="6730453" cy="1152474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8F5D6A-BD19-90DF-B340-6809FCFB8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9" t="64093" r="62137" b="7075"/>
          <a:stretch>
            <a:fillRect/>
          </a:stretch>
        </p:blipFill>
        <p:spPr>
          <a:xfrm>
            <a:off x="7781853" y="2711603"/>
            <a:ext cx="3449982" cy="2568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191472-0C49-D5E8-D6B8-28F464B96904}"/>
              </a:ext>
            </a:extLst>
          </p:cNvPr>
          <p:cNvSpPr txBox="1"/>
          <p:nvPr/>
        </p:nvSpPr>
        <p:spPr>
          <a:xfrm>
            <a:off x="468727" y="2342271"/>
            <a:ext cx="6003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Rank agents (per route) by on-time delivery percentage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1E502-F17E-6A00-0543-ACD6342F5BD2}"/>
              </a:ext>
            </a:extLst>
          </p:cNvPr>
          <p:cNvSpPr txBox="1"/>
          <p:nvPr/>
        </p:nvSpPr>
        <p:spPr>
          <a:xfrm>
            <a:off x="7781853" y="234227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15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B926-9511-5AF7-6CEF-423FD2B8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5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0AB5E1-E371-0B67-D75D-DCA32DB8F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47" t="32967" r="47500" b="49231"/>
          <a:stretch>
            <a:fillRect/>
          </a:stretch>
        </p:blipFill>
        <p:spPr>
          <a:xfrm>
            <a:off x="935338" y="2799254"/>
            <a:ext cx="5303230" cy="1952553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450D2B-E60E-3357-DA58-1BDAC7803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7" t="64738" r="69516" b="8176"/>
          <a:stretch>
            <a:fillRect/>
          </a:stretch>
        </p:blipFill>
        <p:spPr>
          <a:xfrm>
            <a:off x="8321733" y="2799254"/>
            <a:ext cx="2934929" cy="30534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DD312-9741-5136-1356-EFC596BC32E5}"/>
              </a:ext>
            </a:extLst>
          </p:cNvPr>
          <p:cNvSpPr txBox="1"/>
          <p:nvPr/>
        </p:nvSpPr>
        <p:spPr>
          <a:xfrm>
            <a:off x="935338" y="2429922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Agents with on-time % &lt; 80%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2B999-FC4E-5F38-9CF7-D429A81A9E8C}"/>
              </a:ext>
            </a:extLst>
          </p:cNvPr>
          <p:cNvSpPr txBox="1"/>
          <p:nvPr/>
        </p:nvSpPr>
        <p:spPr>
          <a:xfrm>
            <a:off x="8321733" y="242992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89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42D8-E4C5-745D-4209-3AD80E28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5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1F6386-FAD6-AD0A-CDE3-F4CE2393E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4" t="31423" r="25061" b="46660"/>
          <a:stretch>
            <a:fillRect/>
          </a:stretch>
        </p:blipFill>
        <p:spPr>
          <a:xfrm>
            <a:off x="207894" y="2552094"/>
            <a:ext cx="8495071" cy="305229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D338FE-14E4-B1DA-D109-EDEC3B2BD727}"/>
              </a:ext>
            </a:extLst>
          </p:cNvPr>
          <p:cNvSpPr txBox="1"/>
          <p:nvPr/>
        </p:nvSpPr>
        <p:spPr>
          <a:xfrm>
            <a:off x="509803" y="2182762"/>
            <a:ext cx="582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Compare average speed of top 5 vs bottom 5 agents 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561D2-D80D-F650-878F-6C67032EDA7A}"/>
              </a:ext>
            </a:extLst>
          </p:cNvPr>
          <p:cNvSpPr txBox="1"/>
          <p:nvPr/>
        </p:nvSpPr>
        <p:spPr>
          <a:xfrm>
            <a:off x="8880113" y="218276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2E8E9-ABD9-36C8-81FE-3E3ADDC5F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9" t="64308" r="69032" b="24289"/>
          <a:stretch>
            <a:fillRect/>
          </a:stretch>
        </p:blipFill>
        <p:spPr>
          <a:xfrm>
            <a:off x="8880113" y="2552094"/>
            <a:ext cx="3079022" cy="150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40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3281-EBBB-10BD-38A9-17063B46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6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3C9451-E4A0-1D80-67F4-76A466B2B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 t="19912" r="42805" b="57834"/>
          <a:stretch>
            <a:fillRect/>
          </a:stretch>
        </p:blipFill>
        <p:spPr>
          <a:xfrm>
            <a:off x="912749" y="2433484"/>
            <a:ext cx="6798228" cy="222700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859430-30E0-7E5B-7124-787BE0830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0" t="66029" r="64798" b="9873"/>
          <a:stretch>
            <a:fillRect/>
          </a:stretch>
        </p:blipFill>
        <p:spPr>
          <a:xfrm>
            <a:off x="8001937" y="2433484"/>
            <a:ext cx="3277314" cy="2570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13A5D2-E2B1-D5AD-43B9-43143C23AEA2}"/>
              </a:ext>
            </a:extLst>
          </p:cNvPr>
          <p:cNvSpPr txBox="1"/>
          <p:nvPr/>
        </p:nvSpPr>
        <p:spPr>
          <a:xfrm>
            <a:off x="912749" y="2064152"/>
            <a:ext cx="4354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Last checkpoint and time for each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64CE2-ADF2-A290-F5AE-8AF9FBA5883C}"/>
              </a:ext>
            </a:extLst>
          </p:cNvPr>
          <p:cNvSpPr txBox="1"/>
          <p:nvPr/>
        </p:nvSpPr>
        <p:spPr>
          <a:xfrm>
            <a:off x="8001937" y="2064152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421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AE03-2224-03E0-A359-AE21FF3C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6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A211F9-A321-7B92-E5DA-F7131AB27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9" t="27945" r="52997" b="46548"/>
          <a:stretch>
            <a:fillRect/>
          </a:stretch>
        </p:blipFill>
        <p:spPr>
          <a:xfrm>
            <a:off x="0" y="2393972"/>
            <a:ext cx="4149211" cy="2610273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C0ADB6-6530-B071-B69C-0504DB605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5" t="65384" r="71210" b="21061"/>
          <a:stretch>
            <a:fillRect/>
          </a:stretch>
        </p:blipFill>
        <p:spPr>
          <a:xfrm>
            <a:off x="9725038" y="2393974"/>
            <a:ext cx="2466962" cy="1735573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AC29B66-882C-479E-B793-B3408D803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4185172"/>
              </p:ext>
            </p:extLst>
          </p:nvPr>
        </p:nvGraphicFramePr>
        <p:xfrm>
          <a:off x="4149211" y="2393973"/>
          <a:ext cx="5575827" cy="3136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310F1C-DA6D-CC5E-BC83-637BF7AD7A2C}"/>
              </a:ext>
            </a:extLst>
          </p:cNvPr>
          <p:cNvSpPr txBox="1"/>
          <p:nvPr/>
        </p:nvSpPr>
        <p:spPr>
          <a:xfrm>
            <a:off x="0" y="2024639"/>
            <a:ext cx="5903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B0604020104020204" pitchFamily="34" charset="0"/>
              </a:rPr>
              <a:t>Find the most common delay reasons (excluding None)</a:t>
            </a:r>
            <a:endParaRPr lang="en-IN" b="1" dirty="0"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07309-06A7-369D-7ED8-86AF14A7F46E}"/>
              </a:ext>
            </a:extLst>
          </p:cNvPr>
          <p:cNvSpPr txBox="1"/>
          <p:nvPr/>
        </p:nvSpPr>
        <p:spPr>
          <a:xfrm>
            <a:off x="9725038" y="2036434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B0604020104020204" pitchFamily="34" charset="0"/>
              </a:rPr>
              <a:t>Result:</a:t>
            </a:r>
            <a:endParaRPr lang="en-IN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929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77B8D-9A7E-92C4-1E97-47F4262E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6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A18823-A6A4-A25E-73D5-3B10BA70C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t="39039" r="50939" b="42862"/>
          <a:stretch>
            <a:fillRect/>
          </a:stretch>
        </p:blipFill>
        <p:spPr>
          <a:xfrm>
            <a:off x="1186108" y="2588342"/>
            <a:ext cx="5758501" cy="1998406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26A109-1845-9881-A899-33071FF7A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8" t="65169" r="70605" b="10303"/>
          <a:stretch>
            <a:fillRect/>
          </a:stretch>
        </p:blipFill>
        <p:spPr>
          <a:xfrm>
            <a:off x="8686801" y="2588342"/>
            <a:ext cx="2604028" cy="26744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227EFB-8931-4C1F-5F84-483B22463D59}"/>
              </a:ext>
            </a:extLst>
          </p:cNvPr>
          <p:cNvSpPr txBox="1"/>
          <p:nvPr/>
        </p:nvSpPr>
        <p:spPr>
          <a:xfrm>
            <a:off x="1186108" y="2219010"/>
            <a:ext cx="3950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Orders with &gt;2 delayed checkpoints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E0D20-DFB1-6CA6-6E1F-CE8E8F2F4AF9}"/>
              </a:ext>
            </a:extLst>
          </p:cNvPr>
          <p:cNvSpPr txBox="1"/>
          <p:nvPr/>
        </p:nvSpPr>
        <p:spPr>
          <a:xfrm>
            <a:off x="8686801" y="221901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741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E45C-6C2D-5E3E-E179-4CD2B31E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7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0E0E1A-7111-9C11-D827-9F558A7DD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25" t="20295" r="55230" b="44215"/>
          <a:stretch>
            <a:fillRect/>
          </a:stretch>
        </p:blipFill>
        <p:spPr>
          <a:xfrm>
            <a:off x="1451580" y="2713703"/>
            <a:ext cx="4241298" cy="303816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71AC2-3B7A-30E1-77DD-2C86C26F5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65384" r="67218" b="7937"/>
          <a:stretch>
            <a:fillRect/>
          </a:stretch>
        </p:blipFill>
        <p:spPr>
          <a:xfrm>
            <a:off x="7105477" y="2713703"/>
            <a:ext cx="3424871" cy="3011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F9FB18-EE14-4F61-3D06-E79BE330479E}"/>
              </a:ext>
            </a:extLst>
          </p:cNvPr>
          <p:cNvSpPr txBox="1"/>
          <p:nvPr/>
        </p:nvSpPr>
        <p:spPr>
          <a:xfrm>
            <a:off x="1451579" y="2344371"/>
            <a:ext cx="3831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Average Delivery Delay per Region</a:t>
            </a:r>
            <a:endParaRPr lang="en-IN" b="1" dirty="0">
              <a:latin typeface="Abad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BBDFC-9FA0-7E6E-C55E-931CF1A441C9}"/>
              </a:ext>
            </a:extLst>
          </p:cNvPr>
          <p:cNvSpPr txBox="1"/>
          <p:nvPr/>
        </p:nvSpPr>
        <p:spPr>
          <a:xfrm>
            <a:off x="7105477" y="234437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58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13A9-E24B-22DE-754A-5769E7E6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7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5D93AA-4561-2270-C3CB-8C52E3714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4" t="27443" r="51027" b="48932"/>
          <a:stretch>
            <a:fillRect/>
          </a:stretch>
        </p:blipFill>
        <p:spPr>
          <a:xfrm>
            <a:off x="668594" y="2580966"/>
            <a:ext cx="5654322" cy="242328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6070F4-EA3E-2AD7-B9BC-1AE8F5F98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53765" r="73387" b="35477"/>
          <a:stretch>
            <a:fillRect/>
          </a:stretch>
        </p:blipFill>
        <p:spPr>
          <a:xfrm>
            <a:off x="7845600" y="2566218"/>
            <a:ext cx="3106015" cy="17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5B479E-AF84-4684-97CB-F9148145DBDE}"/>
              </a:ext>
            </a:extLst>
          </p:cNvPr>
          <p:cNvSpPr txBox="1"/>
          <p:nvPr/>
        </p:nvSpPr>
        <p:spPr>
          <a:xfrm>
            <a:off x="668594" y="2196886"/>
            <a:ext cx="2269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On-Time Delivery 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6E719-E664-D616-8898-A1D7AB54B6FC}"/>
              </a:ext>
            </a:extLst>
          </p:cNvPr>
          <p:cNvSpPr txBox="1"/>
          <p:nvPr/>
        </p:nvSpPr>
        <p:spPr>
          <a:xfrm>
            <a:off x="7845600" y="2196886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550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7D1F-5F52-23B6-A08E-73D99028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6762-561C-D922-4671-04DA4347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badi" panose="020F0502020204030204" pitchFamily="34" charset="0"/>
              </a:rPr>
              <a:t>Task 7</a:t>
            </a:r>
            <a:endParaRPr lang="en-IN" dirty="0">
              <a:latin typeface="Abad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249A33-8840-CAAD-8EA4-B12BCF61E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6" t="24087" r="55825" b="62275"/>
          <a:stretch>
            <a:fillRect/>
          </a:stretch>
        </p:blipFill>
        <p:spPr>
          <a:xfrm>
            <a:off x="1118585" y="2685963"/>
            <a:ext cx="4869261" cy="1486074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8C9EF4-A401-CC72-8D59-5394DBB6E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6" t="64523" r="70484" b="6215"/>
          <a:stretch>
            <a:fillRect/>
          </a:stretch>
        </p:blipFill>
        <p:spPr>
          <a:xfrm>
            <a:off x="7624916" y="2685963"/>
            <a:ext cx="2669457" cy="3184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61672B-69E4-2114-4204-FEC108BDC5F3}"/>
              </a:ext>
            </a:extLst>
          </p:cNvPr>
          <p:cNvSpPr txBox="1"/>
          <p:nvPr/>
        </p:nvSpPr>
        <p:spPr>
          <a:xfrm>
            <a:off x="1451579" y="2286000"/>
            <a:ext cx="231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badi" panose="020F0502020204030204" pitchFamily="34" charset="0"/>
              </a:rPr>
              <a:t>Average traffic delay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795575-D621-EFAC-680B-C3722E250AC2}"/>
              </a:ext>
            </a:extLst>
          </p:cNvPr>
          <p:cNvSpPr txBox="1"/>
          <p:nvPr/>
        </p:nvSpPr>
        <p:spPr>
          <a:xfrm>
            <a:off x="7860890" y="2286000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badi" panose="020F0502020204030204" pitchFamily="34" charset="0"/>
              </a:rPr>
              <a:t>Result:</a:t>
            </a:r>
            <a:endParaRPr lang="en-IN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182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C5C481-D496-B121-E8C0-F925B5A95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The end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2767C9A-7862-F8E8-8419-7D520C23E4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01267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855</TotalTime>
  <Words>339</Words>
  <Application>Microsoft Office PowerPoint</Application>
  <PresentationFormat>Widescreen</PresentationFormat>
  <Paragraphs>78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Abadi</vt:lpstr>
      <vt:lpstr>Arial</vt:lpstr>
      <vt:lpstr>Gill Sans MT</vt:lpstr>
      <vt:lpstr>Gallery</vt:lpstr>
      <vt:lpstr>SQL Project</vt:lpstr>
      <vt:lpstr>Task 1</vt:lpstr>
      <vt:lpstr>Task 2</vt:lpstr>
      <vt:lpstr>Task 2</vt:lpstr>
      <vt:lpstr>Task 2</vt:lpstr>
      <vt:lpstr>Task 3</vt:lpstr>
      <vt:lpstr>Task 3</vt:lpstr>
      <vt:lpstr>Task 3</vt:lpstr>
      <vt:lpstr>Task 3</vt:lpstr>
      <vt:lpstr>Task 3</vt:lpstr>
      <vt:lpstr>Task 3</vt:lpstr>
      <vt:lpstr>Task 4</vt:lpstr>
      <vt:lpstr>Task 4</vt:lpstr>
      <vt:lpstr>Task 4</vt:lpstr>
      <vt:lpstr>Task 4</vt:lpstr>
      <vt:lpstr>Task 5</vt:lpstr>
      <vt:lpstr>Task 5</vt:lpstr>
      <vt:lpstr>Task 5</vt:lpstr>
      <vt:lpstr>Task 6</vt:lpstr>
      <vt:lpstr>Task 6</vt:lpstr>
      <vt:lpstr>Task 6</vt:lpstr>
      <vt:lpstr>Task 7</vt:lpstr>
      <vt:lpstr>Task 7</vt:lpstr>
      <vt:lpstr>Task 7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 mahato</dc:creator>
  <cp:lastModifiedBy>amit kumar mahato</cp:lastModifiedBy>
  <cp:revision>50</cp:revision>
  <dcterms:created xsi:type="dcterms:W3CDTF">2026-02-09T11:38:08Z</dcterms:created>
  <dcterms:modified xsi:type="dcterms:W3CDTF">2026-02-10T13:40:16Z</dcterms:modified>
</cp:coreProperties>
</file>